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F7A55">
              <a:alpha val="45000"/>
            </a:srgbClr>
          </a:solidFill>
          <a:ln w="12700">
            <a:solidFill>
              <a:srgbClr val="1F7A55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108960"/>
            <a:ext cx="2377440" cy="2377440"/>
          </a:xfrm>
          <a:prstGeom prst="ellipse">
            <a:avLst/>
          </a:prstGeom>
          <a:solidFill>
            <a:srgbClr val="F2A900">
              <a:alpha val="30000"/>
            </a:srgbClr>
          </a:solidFill>
          <a:ln w="12700">
            <a:solidFill>
              <a:srgbClr val="F2A900">
                <a:alpha val="3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|  B.TECH  |  A.Y. 2026-27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1440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 Clustering by Performance Using K-Means and Hierarchical Clustering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Chaitanya  –  2520090099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Navaneeth  –  2520090218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Anjani Shreyaj  –  2520090082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Dyuti Bannerjee, Assistant Professor, CSIT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CS&amp;IT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[College / University Name]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Clustering by Performance  |  Machine Learning  |  A.Y. 2026-27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coaches and managers need objective, data-driven ways to evaluate players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sports analytics, applying unsupervised machine learning to cricket performance statistics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raw numbers across many players are hard to compare by eye; clustering reveals natural groups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577840" y="1097280"/>
            <a:ext cx="3108960" cy="3474720"/>
          </a:xfrm>
          <a:prstGeom prst="roundRect">
            <a:avLst>
              <a:gd name="adj" fmla="val 3529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0644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features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806440" y="173736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played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scored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average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 rate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Wickets taken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rate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Clustering by Performance  |  Machine Learning  |  A.Y. 2026-27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90800" cy="3200400"/>
          </a:xfrm>
          <a:prstGeom prst="roundRect">
            <a:avLst>
              <a:gd name="adj" fmla="val 3529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problem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2225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evaluation relies on manual comparison of raw statistics and personal judgement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76600" y="1188720"/>
            <a:ext cx="2590800" cy="3200400"/>
          </a:xfrm>
          <a:prstGeom prst="roundRect">
            <a:avLst>
              <a:gd name="adj" fmla="val 3529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9480" y="1325880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59480" y="1783080"/>
            <a:ext cx="2225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selection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metrics to compare at once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patterns go unnoticed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6000" y="1188720"/>
            <a:ext cx="2590800" cy="3200400"/>
          </a:xfrm>
          <a:prstGeom prst="roundRect">
            <a:avLst>
              <a:gd name="adj" fmla="val 3529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78880" y="1325880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78880" y="1783080"/>
            <a:ext cx="2225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and selectors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managers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needing feedback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Clustering by Performance  |  Machine Learning  |  A.Y. 2026-27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325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20240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12344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is a core unsupervised ML topic, and sports data gives it an intuitive, relatable use case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514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need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108960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24231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must pick squads, plan training and spot weak areas using evidence rather than instinct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297680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108960" y="36118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analytics is a growing field; clustering is widely used for player profiling and scouting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Clustering by Performance  |  Machine Learning  |  A.Y. 2026-27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players by performance using K-Means and Hierarchical Clustering, and find the better grouping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920240" cy="2194560"/>
          </a:xfrm>
          <a:prstGeom prst="roundRect">
            <a:avLst>
              <a:gd name="adj" fmla="val 4762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468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06324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normalize player statistics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60320" y="2286000"/>
            <a:ext cx="1920240" cy="2194560"/>
          </a:xfrm>
          <a:prstGeom prst="roundRect">
            <a:avLst>
              <a:gd name="adj" fmla="val 4762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2468880"/>
            <a:ext cx="457200" cy="457200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337560" y="2468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306324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players into a fixed number of clusters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2286000"/>
            <a:ext cx="1920240" cy="2194560"/>
          </a:xfrm>
          <a:prstGeom prst="roundRect">
            <a:avLst>
              <a:gd name="adj" fmla="val 4762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468880"/>
            <a:ext cx="457200" cy="457200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40680" y="2468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Linkage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06324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 builds a dendrogram of player similarity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66560" y="2286000"/>
            <a:ext cx="1920240" cy="2194560"/>
          </a:xfrm>
          <a:prstGeom prst="roundRect">
            <a:avLst>
              <a:gd name="adj" fmla="val 4762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2468880"/>
            <a:ext cx="457200" cy="457200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49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2468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306324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both and interpret the clusters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Clustering by Performance  |  Machine Learning  |  A.Y. 2026-27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937760" cy="3291840"/>
          </a:xfrm>
          <a:prstGeom prst="roundRect">
            <a:avLst>
              <a:gd name="adj" fmla="val 2778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approach and technologies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4572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of scorecards and statistics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with sorting and filtering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on a single metric (runs or wickets)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experience and observation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77840" y="1143000"/>
            <a:ext cx="3108960" cy="3291840"/>
          </a:xfrm>
          <a:prstGeom prst="roundRect">
            <a:avLst>
              <a:gd name="adj" fmla="val 294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1737360"/>
            <a:ext cx="2743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multiple metrics together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and inconsistent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scale to many players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Clustering by Performance  |  Machine Learning  |  A.Y. 2026-27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ML pipeline that clusters players on all performance metrics at once, using two methods and comparing them.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566160" cy="731520"/>
          </a:xfrm>
          <a:prstGeom prst="roundRect">
            <a:avLst>
              <a:gd name="adj" fmla="val 125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288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Subjective, single-metric ranking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60520" y="2011680"/>
            <a:ext cx="822960" cy="36576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0" y="1828800"/>
            <a:ext cx="3566160" cy="731520"/>
          </a:xfrm>
          <a:prstGeom prst="roundRect">
            <a:avLst>
              <a:gd name="adj" fmla="val 125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03520" y="18288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Multi-feature, data-driven clusters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566160" cy="731520"/>
          </a:xfrm>
          <a:prstGeom prst="roundRect">
            <a:avLst>
              <a:gd name="adj" fmla="val 125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7432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player relationships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60520" y="2926080"/>
            <a:ext cx="822960" cy="36576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0" y="2743200"/>
            <a:ext cx="3566160" cy="731520"/>
          </a:xfrm>
          <a:prstGeom prst="roundRect">
            <a:avLst>
              <a:gd name="adj" fmla="val 125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3520" y="27432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 shows how players relate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3566160" cy="731520"/>
          </a:xfrm>
          <a:prstGeom prst="roundRect">
            <a:avLst>
              <a:gd name="adj" fmla="val 125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6576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validate grouping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60520" y="3840480"/>
            <a:ext cx="822960" cy="36576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3657600"/>
            <a:ext cx="3566160" cy="731520"/>
          </a:xfrm>
          <a:prstGeom prst="roundRect">
            <a:avLst>
              <a:gd name="adj" fmla="val 125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03520" y="36576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methods compared for best fit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Clustering by Performance  |  Machine Learning  |  A.Y. 2026-27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828800" cy="2194560"/>
          </a:xfrm>
          <a:prstGeom prst="roundRect">
            <a:avLst>
              <a:gd name="adj" fmla="val 5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488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statistics (CSV)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13432" y="2377440"/>
            <a:ext cx="310896" cy="36576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51760" y="1463040"/>
            <a:ext cx="1828800" cy="2194560"/>
          </a:xfrm>
          <a:prstGeom prst="roundRect">
            <a:avLst>
              <a:gd name="adj" fmla="val 5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1488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data, normalize features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07992" y="2377440"/>
            <a:ext cx="310896" cy="36576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463040"/>
            <a:ext cx="1828800" cy="2194560"/>
          </a:xfrm>
          <a:prstGeom prst="roundRect">
            <a:avLst>
              <a:gd name="adj" fmla="val 5000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21488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02552" y="2377440"/>
            <a:ext cx="310896" cy="36576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1463040"/>
            <a:ext cx="1828800" cy="2194560"/>
          </a:xfrm>
          <a:prstGeom prst="roundRect">
            <a:avLst>
              <a:gd name="adj" fmla="val 5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21488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labels, dendrogram, comparison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groups: top performers, consistent players, all-rounders, players needing improvement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/ Workflow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Clustering by Performance  |  Machine Learning  |  A.Y. 2026-27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31520" cy="731520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14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99032" y="1874520"/>
            <a:ext cx="201168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1645920"/>
            <a:ext cx="731520" cy="731520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2880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2514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87752" y="1874520"/>
            <a:ext cx="201168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1645920"/>
            <a:ext cx="731520" cy="731520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1752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2514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76472" y="1874520"/>
            <a:ext cx="201168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1645920"/>
            <a:ext cx="731520" cy="731520"/>
          </a:xfrm>
          <a:prstGeom prst="ellipse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0624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2514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65192" y="1874520"/>
            <a:ext cx="201168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4960" y="1645920"/>
            <a:ext cx="731520" cy="731520"/>
          </a:xfrm>
          <a:prstGeom prst="ellipse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9496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2514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53912" y="1874520"/>
            <a:ext cx="201168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1645920"/>
            <a:ext cx="731520" cy="731520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2514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results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42632" y="1874520"/>
            <a:ext cx="201168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0" y="1645920"/>
            <a:ext cx="731520" cy="731520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7589520" y="2514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clusters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 and 5 run on the same normalized data so the two methods can be compared fairly.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Clustering by Performance  |  Machine Learning  |  A.Y. 2026-27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90800" cy="1577340"/>
          </a:xfrm>
          <a:prstGeom prst="roundRect">
            <a:avLst>
              <a:gd name="adj" fmla="val 579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22250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or above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76600" y="1097280"/>
            <a:ext cx="2590800" cy="1577340"/>
          </a:xfrm>
          <a:prstGeom prst="roundRect">
            <a:avLst>
              <a:gd name="adj" fmla="val 579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9480" y="1234440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Libraries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59480" y="1691640"/>
            <a:ext cx="22250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Scikit-learn, Matplotlib, Seaborn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6000" y="1097280"/>
            <a:ext cx="2590800" cy="1577340"/>
          </a:xfrm>
          <a:prstGeom prst="roundRect">
            <a:avLst>
              <a:gd name="adj" fmla="val 579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78880" y="1234440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78880" y="1691640"/>
            <a:ext cx="22250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Notebook, VS Code or PyCharm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03220"/>
            <a:ext cx="2590800" cy="1577340"/>
          </a:xfrm>
          <a:prstGeom prst="roundRect">
            <a:avLst>
              <a:gd name="adj" fmla="val 579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040380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storage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497580"/>
            <a:ext cx="22250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 or MySQL (optional)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76600" y="2903220"/>
            <a:ext cx="2590800" cy="1577340"/>
          </a:xfrm>
          <a:prstGeom prst="roundRect">
            <a:avLst>
              <a:gd name="adj" fmla="val 579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59480" y="3040380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459480" y="3497580"/>
            <a:ext cx="22250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10/11, Linux or macOS; Chrome or Edge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96000" y="2903220"/>
            <a:ext cx="2590800" cy="1577340"/>
          </a:xfrm>
          <a:prstGeom prst="roundRect">
            <a:avLst>
              <a:gd name="adj" fmla="val 579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78880" y="3040380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78880" y="3497580"/>
            <a:ext cx="22250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i3+, 4 GB RAM, 500 MB free storage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Modules / Components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Clustering by Performance  |  Machine Learning  |  A.Y. 2026-27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90800" cy="1577340"/>
          </a:xfrm>
          <a:prstGeom prst="roundRect">
            <a:avLst>
              <a:gd name="adj" fmla="val 579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28016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7452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player statistics from CSV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097280"/>
            <a:ext cx="2590800" cy="1577340"/>
          </a:xfrm>
          <a:prstGeom prst="roundRect">
            <a:avLst>
              <a:gd name="adj" fmla="val 579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280160"/>
            <a:ext cx="457200" cy="457200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053840" y="128016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187452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scale features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097280"/>
            <a:ext cx="2590800" cy="1577340"/>
          </a:xfrm>
          <a:prstGeom prst="roundRect">
            <a:avLst>
              <a:gd name="adj" fmla="val 579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280160"/>
            <a:ext cx="457200" cy="457200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873240" y="128016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Module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187452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number of clusters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903220"/>
            <a:ext cx="2590800" cy="1577340"/>
          </a:xfrm>
          <a:prstGeom prst="roundRect">
            <a:avLst>
              <a:gd name="adj" fmla="val 579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086100"/>
            <a:ext cx="457200" cy="457200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086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08610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 Module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68046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 and dendrogram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76600" y="2903220"/>
            <a:ext cx="2590800" cy="1577340"/>
          </a:xfrm>
          <a:prstGeom prst="roundRect">
            <a:avLst>
              <a:gd name="adj" fmla="val 579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59480" y="3086100"/>
            <a:ext cx="457200" cy="457200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59480" y="3086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053840" y="308610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Module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459480" y="368046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quality of both methods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096000" y="2903220"/>
            <a:ext cx="2590800" cy="1577340"/>
          </a:xfrm>
          <a:prstGeom prst="roundRect">
            <a:avLst>
              <a:gd name="adj" fmla="val 579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78880" y="3086100"/>
            <a:ext cx="457200" cy="457200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78880" y="3086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873240" y="308610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278880" y="368046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plots, dendrogram, cluster summary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Clustering by Performance  |  Machine Learning  |  A.Y. 2026-27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player CSV with Pandas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and scale with StandardScaler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K-Means; choose k with elbow / silhouette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linkage matrix and cut the tree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clusters and dendrogram, compare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0" y="1097280"/>
            <a:ext cx="4114800" cy="3108960"/>
          </a:xfrm>
          <a:prstGeom prst="roundRect">
            <a:avLst>
              <a:gd name="adj" fmla="val 2941"/>
            </a:avLst>
          </a:prstGeom>
          <a:solidFill>
            <a:srgbClr val="14211C"/>
          </a:solidFill>
          <a:ln w="12700">
            <a:solidFill>
              <a:srgbClr val="1421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54880" y="128016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 = StandardScaler()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sc.fit_transform(df[feats])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 = KMeans(n_clusters=k).fit(X)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linkage(X, method="ward")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df["hier"] = fcluster(Z, k,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"maxclust")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B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code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/ Input Data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Clustering by Performance  |  Machine Learning  |  A.Y. 2026-27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buNone/>
            </a:pPr>
            <a:r>
              <a:rPr lang="en-US" sz="15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[dataset name / source]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 </a:t>
            </a:r>
            <a:pPr indent="0" marL="0">
              <a:buNone/>
            </a:pPr>
            <a:r>
              <a:rPr lang="en-US" sz="15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[number of players]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6888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duplicates, fix missing values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all features to one scale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performance features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played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12280" y="109728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1228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scored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46320" y="219456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21945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average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12280" y="219456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12280" y="21945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 rate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846320" y="329184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3291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Wickets taken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12280" y="329184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12280" y="3291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rate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/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Clustering by Performance  |  Machine Learning  |  A.Y. 2026-27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77640" cy="3383280"/>
          </a:xfrm>
          <a:prstGeom prst="roundRect">
            <a:avLst>
              <a:gd name="adj" fmla="val 270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Clustering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3611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players into k clusters around centroids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fast, simple, easy to interpret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k, init, random_state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3977640" cy="3383280"/>
          </a:xfrm>
          <a:prstGeom prst="roundRect">
            <a:avLst>
              <a:gd name="adj" fmla="val 270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234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 Clustering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691640"/>
            <a:ext cx="3611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similar players step by step into a tree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no fixed k up front; dendrogram shows relations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linkage, distance metric, cut level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Clustering by Performance  |  Machine Learning  |  A.Y. 2026-27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is unsupervised, so cluster-quality metrics are used instead of accuracy.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4206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F6F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F6F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Davies-Bouldin index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F6F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F6F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Calinski-Harabasz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F6F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F6F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937760" y="1417320"/>
            <a:ext cx="3749040" cy="2194560"/>
          </a:xfrm>
          <a:prstGeom prst="rect">
            <a:avLst/>
          </a:prstGeom>
          <a:solidFill>
            <a:srgbClr val="F7F7F7"/>
          </a:solidFill>
          <a:ln w="15875">
            <a:solidFill>
              <a:srgbClr val="9AA8A1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4937760" y="1417320"/>
            <a:ext cx="3749040" cy="2194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chart here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(elbow plot / dendrogram / cluster scatter)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840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clusters: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783080" y="3840480"/>
            <a:ext cx="1627632" cy="457200"/>
          </a:xfrm>
          <a:prstGeom prst="roundRect">
            <a:avLst>
              <a:gd name="adj" fmla="val 50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783080" y="38404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20440" y="3840480"/>
            <a:ext cx="1627632" cy="457200"/>
          </a:xfrm>
          <a:prstGeom prst="roundRect">
            <a:avLst>
              <a:gd name="adj" fmla="val 50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20440" y="38404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players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257800" y="3840480"/>
            <a:ext cx="1627632" cy="457200"/>
          </a:xfrm>
          <a:prstGeom prst="roundRect">
            <a:avLst>
              <a:gd name="adj" fmla="val 50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257800" y="38404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All-rounders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995160" y="3840480"/>
            <a:ext cx="1627632" cy="457200"/>
          </a:xfrm>
          <a:prstGeom prst="roundRect">
            <a:avLst>
              <a:gd name="adj" fmla="val 50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95160" y="38404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improvement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 / Demo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Clustering by Performance  |  Machine Learning  |  A.Y. 2026-27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600200"/>
          </a:xfrm>
          <a:prstGeom prst="rect">
            <a:avLst/>
          </a:prstGeom>
          <a:solidFill>
            <a:srgbClr val="F7F7F7"/>
          </a:solidFill>
          <a:ln w="15875">
            <a:solidFill>
              <a:srgbClr val="9AA8A1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4023360" cy="1600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screenshot: Home page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1600200"/>
          </a:xfrm>
          <a:prstGeom prst="rect">
            <a:avLst/>
          </a:prstGeom>
          <a:solidFill>
            <a:srgbClr val="F7F7F7"/>
          </a:solidFill>
          <a:ln w="15875">
            <a:solidFill>
              <a:srgbClr val="9AA8A1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4663440" y="1097280"/>
            <a:ext cx="4023360" cy="1600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screenshot: Input screen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4023360" cy="1600200"/>
          </a:xfrm>
          <a:prstGeom prst="rect">
            <a:avLst/>
          </a:prstGeom>
          <a:solidFill>
            <a:srgbClr val="F7F7F7"/>
          </a:solidFill>
          <a:ln w="15875">
            <a:solidFill>
              <a:srgbClr val="9AA8A1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457200" y="2880360"/>
            <a:ext cx="4023360" cy="1600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screenshot: Processing screen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023360" cy="1600200"/>
          </a:xfrm>
          <a:prstGeom prst="rect">
            <a:avLst/>
          </a:prstGeom>
          <a:solidFill>
            <a:srgbClr val="F7F7F7"/>
          </a:solidFill>
          <a:ln w="15875">
            <a:solidFill>
              <a:srgbClr val="9AA8A1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663440" y="2880360"/>
            <a:ext cx="4023360" cy="1600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screenshot: Output / result screen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Clustering by Performance  |  Machine Learning  |  A.Y. 2026-27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grouping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36347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backed by data, not guesswork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86300" y="109728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69180" y="1234440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Multi-metric view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69180" y="1691640"/>
            <a:ext cx="36347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statistics considered together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0322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040380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methods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497580"/>
            <a:ext cx="36347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cross-checked for reliability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86300" y="290322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69180" y="3040380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to understand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69180" y="3497580"/>
            <a:ext cx="36347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cluster groups and visual output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Clustering by Performance  |  Machine Learning  |  A.Y. 2026-27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206240" cy="3383280"/>
          </a:xfrm>
          <a:prstGeom prst="roundRect">
            <a:avLst>
              <a:gd name="adj" fmla="val 270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uses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3840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selection and squad building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development plans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Scouting and talent identification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review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383280"/>
          </a:xfrm>
          <a:prstGeom prst="roundRect">
            <a:avLst>
              <a:gd name="adj" fmla="val 270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691640"/>
            <a:ext cx="3474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and selectors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managers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analytics firms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Fantasy sports platforms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Clustering by Performance  |  Machine Learning  |  A.Y. 2026-27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scope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36347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the available statistics (batting and bowling)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86300" y="109728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69180" y="1234440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ground truth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69180" y="1691640"/>
            <a:ext cx="36347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Unsupervised, so clusters cannot be checked against labels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0322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040380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k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497580"/>
            <a:ext cx="36347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depend on the chosen number of clusters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86300" y="290322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69180" y="3040380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69180" y="3497580"/>
            <a:ext cx="36347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 is slow on very large datasets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Clustering by Performance  |  Machine Learning  |  A.Y. 2026-27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90800" cy="3200400"/>
          </a:xfrm>
          <a:prstGeom prst="roundRect">
            <a:avLst>
              <a:gd name="adj" fmla="val 3529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Improvements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2225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DBSCAN and other methods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performance metrics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76600" y="1097280"/>
            <a:ext cx="2590800" cy="3200400"/>
          </a:xfrm>
          <a:prstGeom prst="roundRect">
            <a:avLst>
              <a:gd name="adj" fmla="val 3529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9480" y="1234440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Added features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59480" y="1691640"/>
            <a:ext cx="2225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Player-vs-player comparison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6000" y="1097280"/>
            <a:ext cx="2590800" cy="3200400"/>
          </a:xfrm>
          <a:prstGeom prst="roundRect">
            <a:avLst>
              <a:gd name="adj" fmla="val 3529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78880" y="1234440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78880" y="1691640"/>
            <a:ext cx="2225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for teams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and larger leagues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1F7A55">
              <a:alpha val="65000"/>
            </a:srgbClr>
          </a:solidFill>
          <a:ln w="12700">
            <a:solidFill>
              <a:srgbClr val="1F7A55">
                <a:alpha val="6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players using K-Means and Hierarchical methods and compared them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64408" y="12801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1F7A55">
              <a:alpha val="65000"/>
            </a:srgbClr>
          </a:solidFill>
          <a:ln w="12700">
            <a:solidFill>
              <a:srgbClr val="1F7A55">
                <a:alpha val="65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47288" y="1463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outcome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47288" y="201168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groups: top performers, consistent, all-rounders, needs improvement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71616" y="12801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1F7A55">
              <a:alpha val="65000"/>
            </a:srgbClr>
          </a:solidFill>
          <a:ln w="12700">
            <a:solidFill>
              <a:srgbClr val="1F7A55">
                <a:alpha val="65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54496" y="1463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54496" y="201168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ML makes sports data easier to understand and act 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Player Clustering by Performance Using K-Means and Hierarchical Clustering</dc:title>
  <dc:subject>PptxGenJS Presentation</dc:subject>
  <dc:creator>PptxGenJS</dc:creator>
  <cp:lastModifiedBy>PptxGenJS</cp:lastModifiedBy>
  <cp:revision>1</cp:revision>
  <dcterms:created xsi:type="dcterms:W3CDTF">2026-10-05T03:18:51Z</dcterms:created>
  <dcterms:modified xsi:type="dcterms:W3CDTF">2026-10-05T03:18:51Z</dcterms:modified>
</cp:coreProperties>
</file>